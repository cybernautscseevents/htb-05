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" panose="020B0509050203000203" pitchFamily="49" charset="0"/>
      <p:regular r:id="rId14"/>
    </p:embeddedFont>
    <p:embeddedFont>
      <p:font typeface="IBM Plex Mono Bold" panose="020B0604020202020204" charset="0"/>
      <p:regular r:id="rId15"/>
    </p:embeddedFont>
    <p:embeddedFont>
      <p:font typeface="IBM Plex Sans" panose="020B0503050203000203" pitchFamily="34" charset="0"/>
      <p:regular r:id="rId16"/>
    </p:embeddedFont>
    <p:embeddedFont>
      <p:font typeface="IBM Plex Sans Bold" panose="020B0604020202020204" charset="0"/>
      <p:regular r:id="rId17"/>
    </p:embeddedFont>
    <p:embeddedFont>
      <p:font typeface="Montserra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1450" cy="10287000"/>
            <a:chOff x="0" y="0"/>
            <a:chExt cx="228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00" cy="13716000"/>
            </a:xfrm>
            <a:custGeom>
              <a:avLst/>
              <a:gdLst/>
              <a:ahLst/>
              <a:cxnLst/>
              <a:rect l="l" t="t" r="r" b="b"/>
              <a:pathLst>
                <a:path w="228600" h="137160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400" y="657225"/>
            <a:ext cx="762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 dirty="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HACKATOPIA 2K26  /  </a:t>
            </a: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Codex / HTB-5</a:t>
            </a:r>
            <a:endParaRPr lang="en-US" sz="1500" b="1" spc="120" dirty="0">
              <a:solidFill>
                <a:srgbClr val="176B4D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" y="1704975"/>
            <a:ext cx="9906000" cy="1669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6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ACSA — Artifact-Centric</a:t>
            </a:r>
          </a:p>
          <a:p>
            <a:pPr algn="l">
              <a:lnSpc>
                <a:spcPts val="6457"/>
              </a:lnSpc>
            </a:pPr>
            <a:r>
              <a:rPr lang="en-US" sz="6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3876675"/>
            <a:ext cx="9048750" cy="40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>
                <a:solidFill>
                  <a:srgbClr val="176B4D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Don’t just detect vulnerabilities. Prove their exposure.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648200"/>
            <a:ext cx="7810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Evidence-driven software supply-chain risk analysis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1430000" y="3143250"/>
            <a:ext cx="1571625" cy="133350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>
            <a:off x="13001625" y="3143250"/>
            <a:ext cx="2047875" cy="1333500"/>
          </a:xfrm>
          <a:prstGeom prst="line">
            <a:avLst/>
          </a:prstGeom>
          <a:ln w="38100" cap="rnd">
            <a:solidFill>
              <a:srgbClr val="C43D3D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15049500" y="5524500"/>
            <a:ext cx="0" cy="1143000"/>
          </a:xfrm>
          <a:prstGeom prst="line">
            <a:avLst/>
          </a:prstGeom>
          <a:ln w="38100" cap="rnd">
            <a:solidFill>
              <a:srgbClr val="C43D3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11239500" y="1809750"/>
            <a:ext cx="3524250" cy="1333500"/>
            <a:chOff x="0" y="0"/>
            <a:chExt cx="4699000" cy="177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99000" cy="1778000"/>
            </a:xfrm>
            <a:custGeom>
              <a:avLst/>
              <a:gdLst/>
              <a:ahLst/>
              <a:cxnLst/>
              <a:rect l="l" t="t" r="r" b="b"/>
              <a:pathLst>
                <a:path w="4699000" h="1778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1729946"/>
                  </a:lnTo>
                  <a:cubicBezTo>
                    <a:pt x="4699000" y="1742691"/>
                    <a:pt x="4693937" y="1754913"/>
                    <a:pt x="4684925" y="1763925"/>
                  </a:cubicBezTo>
                  <a:cubicBezTo>
                    <a:pt x="4675913" y="1772937"/>
                    <a:pt x="4663691" y="1778000"/>
                    <a:pt x="4650946" y="1778000"/>
                  </a:cubicBezTo>
                  <a:lnTo>
                    <a:pt x="48054" y="1778000"/>
                  </a:lnTo>
                  <a:cubicBezTo>
                    <a:pt x="35309" y="1778000"/>
                    <a:pt x="23087" y="1772937"/>
                    <a:pt x="14075" y="1763925"/>
                  </a:cubicBezTo>
                  <a:cubicBezTo>
                    <a:pt x="5063" y="1754913"/>
                    <a:pt x="0" y="1742691"/>
                    <a:pt x="0" y="17299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26312C"/>
            </a:solidFill>
            <a:ln w="19050" cap="sq">
              <a:solidFill>
                <a:srgbClr val="26312C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699000" cy="176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APPLICATION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91750" y="4476750"/>
            <a:ext cx="2476500" cy="1047750"/>
            <a:chOff x="0" y="0"/>
            <a:chExt cx="3302000" cy="139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package 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811250" y="4476750"/>
            <a:ext cx="2476500" cy="1047750"/>
            <a:chOff x="0" y="0"/>
            <a:chExt cx="3302000" cy="139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package B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11250" y="6667500"/>
            <a:ext cx="2476500" cy="1047750"/>
            <a:chOff x="0" y="0"/>
            <a:chExt cx="3302000" cy="1397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C43D3D"/>
            </a:solidFill>
            <a:ln w="19050" cap="sq">
              <a:solidFill>
                <a:srgbClr val="C43D3D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VULNERABLE API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34750" y="8296275"/>
            <a:ext cx="5715000" cy="17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>
                <a:solidFill>
                  <a:srgbClr val="17201C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single highlighted path turns package presence into defensible exposure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Vulnerability Alert Is Only the Beginning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381250"/>
            <a:ext cx="4476750" cy="4000500"/>
            <a:chOff x="0" y="0"/>
            <a:chExt cx="5969000" cy="5334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969000" cy="5334000"/>
              <a:chOff x="0" y="0"/>
              <a:chExt cx="5969000" cy="5334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969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533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8DF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5969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31800" y="4699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C43D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1800" y="1279525"/>
              <a:ext cx="5207000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PACKAGE DETECTED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1800" y="2247900"/>
              <a:ext cx="5207000" cy="901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Inventory confirms a vulnerable version is present.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0" y="2381250"/>
            <a:ext cx="4476750" cy="4000500"/>
            <a:chOff x="0" y="0"/>
            <a:chExt cx="5969000" cy="533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969000" cy="5334000"/>
              <a:chOff x="0" y="0"/>
              <a:chExt cx="5969000" cy="533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969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533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8EC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969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31800" y="4699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B779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00" y="1279525"/>
              <a:ext cx="5207000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CODE PATH ANALYSED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2247900"/>
              <a:ext cx="5207000" cy="1358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Imports and call relationships reveal whether relevant code can run.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77600" y="2381250"/>
            <a:ext cx="4476750" cy="4000500"/>
            <a:chOff x="0" y="0"/>
            <a:chExt cx="5969000" cy="5334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969000" cy="5334000"/>
              <a:chOff x="0" y="0"/>
              <a:chExt cx="5969000" cy="5334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969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533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DCEE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5969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31800" y="4699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1800" y="1279525"/>
              <a:ext cx="5207000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EXPOSURE ASSESSED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800" y="2247900"/>
              <a:ext cx="5207000" cy="1358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Context and evidence support EXPOSED, NOT EXPOSED or UNKNOWN.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00250" y="7591425"/>
            <a:ext cx="142875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17201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Built for  DEVELOPERS   ·   SECURITY TEAMS   ·   SOFTWARE MAINTAINERS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9000" y="8439150"/>
            <a:ext cx="11430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 alert lists become useful only when presence, reachability and evidence are connected.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 the Evidence, Not Just the Alerts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000250"/>
            <a:ext cx="7810500" cy="6477000"/>
            <a:chOff x="0" y="0"/>
            <a:chExt cx="10414000" cy="863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14000" cy="8636000"/>
            </a:xfrm>
            <a:custGeom>
              <a:avLst/>
              <a:gdLst/>
              <a:ahLst/>
              <a:cxnLst/>
              <a:rect l="l" t="t" r="r" b="b"/>
              <a:pathLst>
                <a:path w="10414000" h="8636000">
                  <a:moveTo>
                    <a:pt x="0" y="0"/>
                  </a:moveTo>
                  <a:lnTo>
                    <a:pt x="10414000" y="0"/>
                  </a:lnTo>
                  <a:lnTo>
                    <a:pt x="104140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14000" cy="867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82150" y="2000250"/>
            <a:ext cx="7791450" cy="6477000"/>
            <a:chOff x="0" y="0"/>
            <a:chExt cx="10388600" cy="863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88600" cy="8636000"/>
            </a:xfrm>
            <a:custGeom>
              <a:avLst/>
              <a:gdLst/>
              <a:ahLst/>
              <a:cxnLst/>
              <a:rect l="l" t="t" r="r" b="b"/>
              <a:pathLst>
                <a:path w="10388600" h="8636000">
                  <a:moveTo>
                    <a:pt x="0" y="0"/>
                  </a:moveTo>
                  <a:lnTo>
                    <a:pt x="10388600" y="0"/>
                  </a:lnTo>
                  <a:lnTo>
                    <a:pt x="103886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DCEEE5"/>
            </a:solidFill>
            <a:ln w="19050" cap="sq">
              <a:solidFill>
                <a:srgbClr val="176B4D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88600" cy="867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250" y="2305050"/>
            <a:ext cx="6477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5D696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CURRENT TOOLING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250" y="2867025"/>
            <a:ext cx="6667500" cy="92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Scanning, intelligence</a:t>
            </a:r>
          </a:p>
          <a:p>
            <a:pPr algn="l">
              <a:lnSpc>
                <a:spcPts val="3622"/>
              </a:lnSpc>
            </a:pPr>
            <a:r>
              <a:rPr lang="en-US" sz="3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update automation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8250" y="4143375"/>
            <a:ext cx="6191250" cy="16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Dependency scanning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Vulnerability intelligence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Reachability signals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update proposals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7200900"/>
            <a:ext cx="6667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5D6963"/>
                </a:solidFill>
                <a:latin typeface="IBM Plex Mono"/>
                <a:ea typeface="IBM Plex Mono"/>
                <a:cs typeface="IBM Plex Mono"/>
                <a:sym typeface="IBM Plex Mono"/>
              </a:rPr>
              <a:t>Snyk  ·  Endor Labs  ·  Dependabot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6000" y="2305050"/>
            <a:ext cx="666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ACSA INTEGRATED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06000" y="2867025"/>
            <a:ext cx="6858000" cy="92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chain of evidence,</a:t>
            </a:r>
          </a:p>
          <a:p>
            <a:pPr algn="l">
              <a:lnSpc>
                <a:spcPts val="3622"/>
              </a:lnSpc>
            </a:pPr>
            <a:r>
              <a:rPr lang="en-US" sz="31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inventory to proof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6000" y="4305300"/>
            <a:ext cx="647700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1C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Inventory truth → affected-version evidence → code-path analysis → uncertainty → remediation planning → proof verification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06000" y="7200900"/>
            <a:ext cx="6667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UNIQUE VALUE  ·  evidence continuity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Repository to Evidence-Backed Verdict</a:t>
            </a:r>
          </a:p>
        </p:txBody>
      </p:sp>
      <p:sp>
        <p:nvSpPr>
          <p:cNvPr id="3" name="AutoShape 3"/>
          <p:cNvSpPr/>
          <p:nvPr/>
        </p:nvSpPr>
        <p:spPr>
          <a:xfrm>
            <a:off x="3571875" y="3905250"/>
            <a:ext cx="66675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904875" y="3143250"/>
            <a:ext cx="2667000" cy="1524000"/>
            <a:chOff x="0" y="0"/>
            <a:chExt cx="3556000" cy="203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56000" cy="2032000"/>
            </a:xfrm>
            <a:custGeom>
              <a:avLst/>
              <a:gdLst/>
              <a:ahLst/>
              <a:cxnLst/>
              <a:rect l="l" t="t" r="r" b="b"/>
              <a:pathLst>
                <a:path w="3556000" h="2032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968500"/>
                  </a:lnTo>
                  <a:cubicBezTo>
                    <a:pt x="3556000" y="2003570"/>
                    <a:pt x="3527570" y="2032000"/>
                    <a:pt x="3492500" y="2032000"/>
                  </a:cubicBezTo>
                  <a:lnTo>
                    <a:pt x="63500" y="2032000"/>
                  </a:lnTo>
                  <a:cubicBezTo>
                    <a:pt x="28430" y="2032000"/>
                    <a:pt x="0" y="2003570"/>
                    <a:pt x="0" y="1968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3556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REPOSITORY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+ SBOM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4875" y="4800600"/>
            <a:ext cx="2667000" cy="24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57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is present?</a:t>
            </a:r>
          </a:p>
        </p:txBody>
      </p:sp>
      <p:sp>
        <p:nvSpPr>
          <p:cNvPr id="8" name="AutoShape 8"/>
          <p:cNvSpPr/>
          <p:nvPr/>
        </p:nvSpPr>
        <p:spPr>
          <a:xfrm>
            <a:off x="6953250" y="3905250"/>
            <a:ext cx="66675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4286250" y="3143250"/>
            <a:ext cx="2667000" cy="1524000"/>
            <a:chOff x="0" y="0"/>
            <a:chExt cx="3556000" cy="203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56000" cy="2032000"/>
            </a:xfrm>
            <a:custGeom>
              <a:avLst/>
              <a:gdLst/>
              <a:ahLst/>
              <a:cxnLst/>
              <a:rect l="l" t="t" r="r" b="b"/>
              <a:pathLst>
                <a:path w="3556000" h="2032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968500"/>
                  </a:lnTo>
                  <a:cubicBezTo>
                    <a:pt x="3556000" y="2003570"/>
                    <a:pt x="3527570" y="2032000"/>
                    <a:pt x="3492500" y="2032000"/>
                  </a:cubicBezTo>
                  <a:lnTo>
                    <a:pt x="63500" y="2032000"/>
                  </a:lnTo>
                  <a:cubicBezTo>
                    <a:pt x="28430" y="2032000"/>
                    <a:pt x="0" y="2003570"/>
                    <a:pt x="0" y="1968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3556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INVENTORY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RECONCILIATION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86250" y="4800600"/>
            <a:ext cx="2667000" cy="24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57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Resolve conflicts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334625" y="3905250"/>
            <a:ext cx="66675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7667625" y="3143250"/>
            <a:ext cx="2667000" cy="1524000"/>
            <a:chOff x="0" y="0"/>
            <a:chExt cx="3556000" cy="2032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6000" cy="2032000"/>
            </a:xfrm>
            <a:custGeom>
              <a:avLst/>
              <a:gdLst/>
              <a:ahLst/>
              <a:cxnLst/>
              <a:rect l="l" t="t" r="r" b="b"/>
              <a:pathLst>
                <a:path w="3556000" h="2032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968500"/>
                  </a:lnTo>
                  <a:cubicBezTo>
                    <a:pt x="3556000" y="2003570"/>
                    <a:pt x="3527570" y="2032000"/>
                    <a:pt x="3492500" y="2032000"/>
                  </a:cubicBezTo>
                  <a:lnTo>
                    <a:pt x="63500" y="2032000"/>
                  </a:lnTo>
                  <a:cubicBezTo>
                    <a:pt x="28430" y="2032000"/>
                    <a:pt x="0" y="2003570"/>
                    <a:pt x="0" y="1968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556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OSV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INTELLIGENCE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67625" y="4800600"/>
            <a:ext cx="2667000" cy="24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57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Affected versions?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3716000" y="3905250"/>
            <a:ext cx="666750" cy="0"/>
          </a:xfrm>
          <a:prstGeom prst="line">
            <a:avLst/>
          </a:prstGeom>
          <a:ln w="38100" cap="rnd">
            <a:solidFill>
              <a:srgbClr val="176B4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1049000" y="3143250"/>
            <a:ext cx="2667000" cy="1524000"/>
            <a:chOff x="0" y="0"/>
            <a:chExt cx="3556000" cy="2032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56000" cy="2032000"/>
            </a:xfrm>
            <a:custGeom>
              <a:avLst/>
              <a:gdLst/>
              <a:ahLst/>
              <a:cxnLst/>
              <a:rect l="l" t="t" r="r" b="b"/>
              <a:pathLst>
                <a:path w="3556000" h="2032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968500"/>
                  </a:lnTo>
                  <a:cubicBezTo>
                    <a:pt x="3556000" y="2003570"/>
                    <a:pt x="3527570" y="2032000"/>
                    <a:pt x="3492500" y="2032000"/>
                  </a:cubicBezTo>
                  <a:lnTo>
                    <a:pt x="63500" y="2032000"/>
                  </a:lnTo>
                  <a:cubicBezTo>
                    <a:pt x="28430" y="2032000"/>
                    <a:pt x="0" y="2003570"/>
                    <a:pt x="0" y="1968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556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REACHABILITY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+ CONTEXT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049000" y="4800600"/>
            <a:ext cx="2667000" cy="24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57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code be reached?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430375" y="3143250"/>
            <a:ext cx="2667000" cy="1524000"/>
            <a:chOff x="0" y="0"/>
            <a:chExt cx="3556000" cy="2032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56000" cy="2032000"/>
            </a:xfrm>
            <a:custGeom>
              <a:avLst/>
              <a:gdLst/>
              <a:ahLst/>
              <a:cxnLst/>
              <a:rect l="l" t="t" r="r" b="b"/>
              <a:pathLst>
                <a:path w="3556000" h="2032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968500"/>
                  </a:lnTo>
                  <a:cubicBezTo>
                    <a:pt x="3556000" y="2003570"/>
                    <a:pt x="3527570" y="2032000"/>
                    <a:pt x="3492500" y="2032000"/>
                  </a:cubicBezTo>
                  <a:lnTo>
                    <a:pt x="63500" y="2032000"/>
                  </a:lnTo>
                  <a:cubicBezTo>
                    <a:pt x="28430" y="2032000"/>
                    <a:pt x="0" y="2003570"/>
                    <a:pt x="0" y="1968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76B4D"/>
            </a:solidFill>
            <a:ln w="19050" cap="sq">
              <a:solidFill>
                <a:srgbClr val="176B4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556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EVIDENCE FUSION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→ VERDICT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430375" y="4800600"/>
            <a:ext cx="2667000" cy="24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57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supports it?</a:t>
            </a:r>
          </a:p>
        </p:txBody>
      </p:sp>
      <p:sp>
        <p:nvSpPr>
          <p:cNvPr id="27" name="AutoShape 27"/>
          <p:cNvSpPr/>
          <p:nvPr/>
        </p:nvSpPr>
        <p:spPr>
          <a:xfrm flipH="1">
            <a:off x="13811250" y="4667250"/>
            <a:ext cx="1952625" cy="1905000"/>
          </a:xfrm>
          <a:prstGeom prst="line">
            <a:avLst/>
          </a:prstGeom>
          <a:ln w="38100" cap="rnd">
            <a:solidFill>
              <a:srgbClr val="176B4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11049000" y="6572250"/>
            <a:ext cx="3143250" cy="1238250"/>
            <a:chOff x="0" y="0"/>
            <a:chExt cx="4191000" cy="1651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91000" cy="1651000"/>
            </a:xfrm>
            <a:custGeom>
              <a:avLst/>
              <a:gdLst/>
              <a:ahLst/>
              <a:cxnLst/>
              <a:rect l="l" t="t" r="r" b="b"/>
              <a:pathLst>
                <a:path w="4191000" h="165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97121"/>
                  </a:lnTo>
                  <a:cubicBezTo>
                    <a:pt x="4191000" y="1611411"/>
                    <a:pt x="4185324" y="1625115"/>
                    <a:pt x="4175219" y="1635219"/>
                  </a:cubicBezTo>
                  <a:cubicBezTo>
                    <a:pt x="4165115" y="1645324"/>
                    <a:pt x="4151411" y="1651000"/>
                    <a:pt x="4137121" y="1651000"/>
                  </a:cubicBezTo>
                  <a:lnTo>
                    <a:pt x="53879" y="1651000"/>
                  </a:lnTo>
                  <a:cubicBezTo>
                    <a:pt x="39589" y="1651000"/>
                    <a:pt x="25885" y="1645324"/>
                    <a:pt x="15781" y="1635219"/>
                  </a:cubicBezTo>
                  <a:cubicBezTo>
                    <a:pt x="5676" y="1625115"/>
                    <a:pt x="0" y="1611411"/>
                    <a:pt x="0" y="1597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F8ECD2"/>
            </a:solidFill>
            <a:ln w="19050" cap="sq">
              <a:solidFill>
                <a:srgbClr val="F8ECD2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REMEDIATION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CANDIDATES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4192250" y="7191375"/>
            <a:ext cx="762000" cy="0"/>
          </a:xfrm>
          <a:prstGeom prst="line">
            <a:avLst/>
          </a:prstGeom>
          <a:ln w="38100" cap="rnd">
            <a:solidFill>
              <a:srgbClr val="176B4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14954250" y="6572250"/>
            <a:ext cx="2381250" cy="1238250"/>
            <a:chOff x="0" y="0"/>
            <a:chExt cx="3175000" cy="1651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579880"/>
                  </a:lnTo>
                  <a:cubicBezTo>
                    <a:pt x="3175000" y="1619159"/>
                    <a:pt x="3143159" y="1651000"/>
                    <a:pt x="3103880" y="1651000"/>
                  </a:cubicBezTo>
                  <a:lnTo>
                    <a:pt x="71120" y="1651000"/>
                  </a:lnTo>
                  <a:cubicBezTo>
                    <a:pt x="31842" y="1651000"/>
                    <a:pt x="0" y="1619159"/>
                    <a:pt x="0" y="1579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DCEEE5"/>
            </a:solidFill>
            <a:ln w="19050" cap="sq">
              <a:solidFill>
                <a:srgbClr val="DCEEE5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PROOF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VERIFICATION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49000" y="8077200"/>
            <a:ext cx="314325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should change?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54250" y="8077200"/>
            <a:ext cx="238125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 risk closed?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Follow One Vulnerability Through ACSA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2333625"/>
            <a:ext cx="7477125" cy="685800"/>
            <a:chOff x="0" y="0"/>
            <a:chExt cx="9969500" cy="9144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1</a:t>
                </a: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Input repository path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3905250"/>
            <a:ext cx="7477125" cy="685800"/>
            <a:chOff x="0" y="0"/>
            <a:chExt cx="9969500" cy="9144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2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Parse manifests, lockfiles, SBOMs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750" y="5476875"/>
            <a:ext cx="7477125" cy="685800"/>
            <a:chOff x="0" y="0"/>
            <a:chExt cx="9969500" cy="9144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3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Normalize &amp; reconcile components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7750" y="7048500"/>
            <a:ext cx="7477125" cy="685800"/>
            <a:chOff x="0" y="0"/>
            <a:chExt cx="9969500" cy="9144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4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Query OSV intelligence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20250" y="2333625"/>
            <a:ext cx="7477125" cy="685800"/>
            <a:chOff x="0" y="0"/>
            <a:chExt cx="9969500" cy="9144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5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Evaluate affected versions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20250" y="3905250"/>
            <a:ext cx="7477125" cy="685800"/>
            <a:chOff x="0" y="0"/>
            <a:chExt cx="9969500" cy="9144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6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Analyse imports &amp; calls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20250" y="5476875"/>
            <a:ext cx="7477125" cy="685800"/>
            <a:chOff x="0" y="0"/>
            <a:chExt cx="9969500" cy="9144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631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7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Inspect context &amp; attacker flow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620250" y="7048500"/>
            <a:ext cx="7477125" cy="685800"/>
            <a:chOff x="0" y="0"/>
            <a:chExt cx="9969500" cy="9144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76B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9144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8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333500" y="263525"/>
              <a:ext cx="8636000" cy="414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Fuse evidence → structured verdict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4095750" y="8810625"/>
            <a:ext cx="1009650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B77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UNKNOWN means insufficient evidence — not safe.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6275"/>
            <a:ext cx="14287500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975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Ways ACSA Aims to Improve Security Decisions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381250"/>
            <a:ext cx="4953000" cy="4762500"/>
            <a:chOff x="0" y="0"/>
            <a:chExt cx="6604000" cy="6350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604000" cy="6350000"/>
              <a:chOff x="0" y="0"/>
              <a:chExt cx="6604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604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35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8DF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604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C43D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82600" y="898525"/>
              <a:ext cx="5715000" cy="105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Contradiction-aware</a:t>
              </a:r>
            </a:p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inventory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2600" y="2819400"/>
              <a:ext cx="5715000" cy="1358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Preserves conflicting component evidence instead of silently discarding differences.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91275" y="2381250"/>
            <a:ext cx="4953000" cy="4762500"/>
            <a:chOff x="0" y="0"/>
            <a:chExt cx="6604000" cy="6350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604000" cy="6350000"/>
              <a:chOff x="0" y="0"/>
              <a:chExt cx="6604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604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35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8EC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604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B77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82600" y="898525"/>
              <a:ext cx="5715000" cy="105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Minimum-blast-radius</a:t>
              </a:r>
            </a:p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remediation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600" y="2819400"/>
              <a:ext cx="5715000" cy="1358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Ranks candidates that avoid unnecessary changes. Simulated patches are not a safety guarantee.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68150" y="2381250"/>
            <a:ext cx="4953000" cy="4762500"/>
            <a:chOff x="0" y="0"/>
            <a:chExt cx="6604000" cy="6350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604000" cy="6350000"/>
              <a:chOff x="0" y="0"/>
              <a:chExt cx="6604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35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DCEE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604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82600" y="898525"/>
              <a:ext cx="5715000" cy="105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Proof-carrying</a:t>
              </a:r>
            </a:p>
            <a:p>
              <a:pPr algn="l">
                <a:lnSpc>
                  <a:spcPts val="3104"/>
                </a:lnSpc>
              </a:pPr>
              <a:r>
                <a:rPr lang="en-US" sz="2700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remediation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2600" y="2819400"/>
              <a:ext cx="5715000" cy="1358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Compares before-and-after evidence to evaluate whether exposure has actually closed.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190750" y="8115300"/>
            <a:ext cx="139065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17201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SUPPORTING FEATURE  ·  uncertainty-guided dynamic probe planning targets missing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Components, One Evidence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0125" y="21621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INPUT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76750" y="2162175"/>
            <a:ext cx="381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BACKEND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0" y="2162175"/>
            <a:ext cx="457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SUPPORTING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00" y="2162175"/>
            <a:ext cx="2095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FRONTEND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04875" y="2857500"/>
            <a:ext cx="2667000" cy="1000125"/>
            <a:chOff x="0" y="0"/>
            <a:chExt cx="3556000" cy="133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270000"/>
                  </a:lnTo>
                  <a:cubicBezTo>
                    <a:pt x="3556000" y="1305070"/>
                    <a:pt x="3527570" y="1333500"/>
                    <a:pt x="3492500" y="1333500"/>
                  </a:cubicBezTo>
                  <a:lnTo>
                    <a:pt x="63500" y="1333500"/>
                  </a:lnTo>
                  <a:cubicBezTo>
                    <a:pt x="28430" y="1333500"/>
                    <a:pt x="0" y="1305070"/>
                    <a:pt x="0" y="1270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556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Repository path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4875" y="4238625"/>
            <a:ext cx="2667000" cy="1000125"/>
            <a:chOff x="0" y="0"/>
            <a:chExt cx="3556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270000"/>
                  </a:lnTo>
                  <a:cubicBezTo>
                    <a:pt x="3556000" y="1305070"/>
                    <a:pt x="3527570" y="1333500"/>
                    <a:pt x="3492500" y="1333500"/>
                  </a:cubicBezTo>
                  <a:lnTo>
                    <a:pt x="63500" y="1333500"/>
                  </a:lnTo>
                  <a:cubicBezTo>
                    <a:pt x="28430" y="1333500"/>
                    <a:pt x="0" y="1305070"/>
                    <a:pt x="0" y="1270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556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package.json + lockfiles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4875" y="5619750"/>
            <a:ext cx="2667000" cy="1000125"/>
            <a:chOff x="0" y="0"/>
            <a:chExt cx="35560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270000"/>
                  </a:lnTo>
                  <a:cubicBezTo>
                    <a:pt x="3556000" y="1305070"/>
                    <a:pt x="3527570" y="1333500"/>
                    <a:pt x="3492500" y="1333500"/>
                  </a:cubicBezTo>
                  <a:lnTo>
                    <a:pt x="63500" y="1333500"/>
                  </a:lnTo>
                  <a:cubicBezTo>
                    <a:pt x="28430" y="1333500"/>
                    <a:pt x="0" y="1305070"/>
                    <a:pt x="0" y="1270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556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SBOMs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3571875" y="4524375"/>
            <a:ext cx="76200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4333875" y="2857500"/>
            <a:ext cx="5334000" cy="4953000"/>
            <a:chOff x="0" y="0"/>
            <a:chExt cx="7112000" cy="660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12000" cy="6604000"/>
            </a:xfrm>
            <a:custGeom>
              <a:avLst/>
              <a:gdLst/>
              <a:ahLst/>
              <a:cxnLst/>
              <a:rect l="l" t="t" r="r" b="b"/>
              <a:pathLst>
                <a:path w="7112000" h="66040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6572250"/>
                  </a:lnTo>
                  <a:cubicBezTo>
                    <a:pt x="7112000" y="6589785"/>
                    <a:pt x="7097785" y="6604000"/>
                    <a:pt x="7080250" y="6604000"/>
                  </a:cubicBezTo>
                  <a:lnTo>
                    <a:pt x="31750" y="6604000"/>
                  </a:lnTo>
                  <a:cubicBezTo>
                    <a:pt x="14215" y="6604000"/>
                    <a:pt x="0" y="6589785"/>
                    <a:pt x="0" y="6572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26312C"/>
            </a:solidFill>
            <a:ln w="19050" cap="sq">
              <a:solidFill>
                <a:srgbClr val="26312C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7112000" cy="659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PYTHON ANALYSER + FASTAPI</a:t>
              </a:r>
            </a:p>
            <a:p>
              <a:pPr algn="ctr">
                <a:lnSpc>
                  <a:spcPts val="2070"/>
                </a:lnSpc>
              </a:pPr>
              <a:endParaRPr lang="en-US" sz="18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Ingestion  ·  OSV service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Reachability  ·  Context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Evidence fusion  ·  Verdict engine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9667875" y="5334000"/>
            <a:ext cx="762000" cy="0"/>
          </a:xfrm>
          <a:prstGeom prst="line">
            <a:avLst/>
          </a:prstGeom>
          <a:ln w="38100" cap="rnd">
            <a:solidFill>
              <a:srgbClr val="176B4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0429875" y="2857500"/>
            <a:ext cx="3714750" cy="904875"/>
            <a:chOff x="0" y="0"/>
            <a:chExt cx="4953000" cy="1206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953000" cy="1206500"/>
            </a:xfrm>
            <a:custGeom>
              <a:avLst/>
              <a:gdLst/>
              <a:ahLst/>
              <a:cxnLst/>
              <a:rect l="l" t="t" r="r" b="b"/>
              <a:pathLst>
                <a:path w="4953000" h="12065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1160910"/>
                  </a:lnTo>
                  <a:cubicBezTo>
                    <a:pt x="4953000" y="1186089"/>
                    <a:pt x="4932589" y="1206500"/>
                    <a:pt x="4907410" y="1206500"/>
                  </a:cubicBezTo>
                  <a:lnTo>
                    <a:pt x="45590" y="1206500"/>
                  </a:lnTo>
                  <a:cubicBezTo>
                    <a:pt x="20411" y="1206500"/>
                    <a:pt x="0" y="1186089"/>
                    <a:pt x="0" y="11609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4953000" cy="1196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Evidence graph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29875" y="4095750"/>
            <a:ext cx="3714750" cy="904875"/>
            <a:chOff x="0" y="0"/>
            <a:chExt cx="4953000" cy="1206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53000" cy="1206500"/>
            </a:xfrm>
            <a:custGeom>
              <a:avLst/>
              <a:gdLst/>
              <a:ahLst/>
              <a:cxnLst/>
              <a:rect l="l" t="t" r="r" b="b"/>
              <a:pathLst>
                <a:path w="4953000" h="12065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1160910"/>
                  </a:lnTo>
                  <a:cubicBezTo>
                    <a:pt x="4953000" y="1186089"/>
                    <a:pt x="4932589" y="1206500"/>
                    <a:pt x="4907410" y="1206500"/>
                  </a:cubicBezTo>
                  <a:lnTo>
                    <a:pt x="45590" y="1206500"/>
                  </a:lnTo>
                  <a:cubicBezTo>
                    <a:pt x="20411" y="1206500"/>
                    <a:pt x="0" y="1186089"/>
                    <a:pt x="0" y="11609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4953000" cy="1196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Remediation candidates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29875" y="5334000"/>
            <a:ext cx="3714750" cy="904875"/>
            <a:chOff x="0" y="0"/>
            <a:chExt cx="4953000" cy="1206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53000" cy="1206500"/>
            </a:xfrm>
            <a:custGeom>
              <a:avLst/>
              <a:gdLst/>
              <a:ahLst/>
              <a:cxnLst/>
              <a:rect l="l" t="t" r="r" b="b"/>
              <a:pathLst>
                <a:path w="4953000" h="12065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1160910"/>
                  </a:lnTo>
                  <a:cubicBezTo>
                    <a:pt x="4953000" y="1186089"/>
                    <a:pt x="4932589" y="1206500"/>
                    <a:pt x="4907410" y="1206500"/>
                  </a:cubicBezTo>
                  <a:lnTo>
                    <a:pt x="45590" y="1206500"/>
                  </a:lnTo>
                  <a:cubicBezTo>
                    <a:pt x="20411" y="1206500"/>
                    <a:pt x="0" y="1186089"/>
                    <a:pt x="0" y="11609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DCEEE5"/>
            </a:solidFill>
            <a:ln w="19050" cap="sq">
              <a:solidFill>
                <a:srgbClr val="DCEEE5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4953000" cy="1196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Proof verification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29875" y="6572250"/>
            <a:ext cx="3714750" cy="904875"/>
            <a:chOff x="0" y="0"/>
            <a:chExt cx="4953000" cy="1206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53000" cy="1206500"/>
            </a:xfrm>
            <a:custGeom>
              <a:avLst/>
              <a:gdLst/>
              <a:ahLst/>
              <a:cxnLst/>
              <a:rect l="l" t="t" r="r" b="b"/>
              <a:pathLst>
                <a:path w="4953000" h="12065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1160910"/>
                  </a:lnTo>
                  <a:cubicBezTo>
                    <a:pt x="4953000" y="1186089"/>
                    <a:pt x="4932589" y="1206500"/>
                    <a:pt x="4907410" y="1206500"/>
                  </a:cubicBezTo>
                  <a:lnTo>
                    <a:pt x="45590" y="1206500"/>
                  </a:lnTo>
                  <a:cubicBezTo>
                    <a:pt x="20411" y="1206500"/>
                    <a:pt x="0" y="1186089"/>
                    <a:pt x="0" y="11609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4953000" cy="1196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Dynamic-probe planning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4144625" y="5334000"/>
            <a:ext cx="762000" cy="0"/>
          </a:xfrm>
          <a:prstGeom prst="line">
            <a:avLst/>
          </a:prstGeom>
          <a:ln w="38100" cap="rnd">
            <a:solidFill>
              <a:srgbClr val="176B4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14906625" y="2857500"/>
            <a:ext cx="2476500" cy="4953000"/>
            <a:chOff x="0" y="0"/>
            <a:chExt cx="3302000" cy="660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02000" cy="6604000"/>
            </a:xfrm>
            <a:custGeom>
              <a:avLst/>
              <a:gdLst/>
              <a:ahLst/>
              <a:cxnLst/>
              <a:rect l="l" t="t" r="r" b="b"/>
              <a:pathLst>
                <a:path w="3302000" h="6604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6535615"/>
                  </a:lnTo>
                  <a:cubicBezTo>
                    <a:pt x="3302000" y="6553752"/>
                    <a:pt x="3294795" y="6571146"/>
                    <a:pt x="3281971" y="6583971"/>
                  </a:cubicBezTo>
                  <a:cubicBezTo>
                    <a:pt x="3269146" y="6596795"/>
                    <a:pt x="3251752" y="6604000"/>
                    <a:pt x="3233615" y="6604000"/>
                  </a:cubicBezTo>
                  <a:lnTo>
                    <a:pt x="68385" y="6604000"/>
                  </a:lnTo>
                  <a:cubicBezTo>
                    <a:pt x="50248" y="6604000"/>
                    <a:pt x="32854" y="6596795"/>
                    <a:pt x="20029" y="6583971"/>
                  </a:cubicBezTo>
                  <a:cubicBezTo>
                    <a:pt x="7205" y="6571146"/>
                    <a:pt x="0" y="6553752"/>
                    <a:pt x="0" y="6535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DCEEE5"/>
            </a:solidFill>
            <a:ln w="19050" cap="sq">
              <a:solidFill>
                <a:srgbClr val="DCEEE5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302000" cy="659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REACT UI</a:t>
              </a:r>
            </a:p>
            <a:p>
              <a:pPr algn="ctr">
                <a:lnSpc>
                  <a:spcPts val="2070"/>
                </a:lnSpc>
              </a:pPr>
              <a:endParaRPr lang="en-US" sz="1800" b="1">
                <a:solidFill>
                  <a:srgbClr val="17201C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Overview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Findings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Evidence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Remediation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Probes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We Built Under the Hood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381250"/>
            <a:ext cx="3714750" cy="4762500"/>
            <a:chOff x="0" y="0"/>
            <a:chExt cx="4953000" cy="6350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953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35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DCEEE5"/>
              </a:solidFill>
              <a:ln w="19050" cap="sq">
                <a:solidFill>
                  <a:srgbClr val="D7DDD9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55600" y="606425"/>
              <a:ext cx="4191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ANALYSIS ENGINE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5600" y="1543050"/>
              <a:ext cx="4318000" cy="564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3"/>
                </a:lnSpc>
              </a:pPr>
              <a:r>
                <a:rPr lang="en-US" sz="2925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5600" y="2736850"/>
              <a:ext cx="4318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Pydantic models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Command-line interface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057775" y="2381250"/>
            <a:ext cx="3714750" cy="4762500"/>
            <a:chOff x="0" y="0"/>
            <a:chExt cx="4953000" cy="6350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953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35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4F6F3"/>
              </a:solidFill>
              <a:ln w="19050" cap="sq">
                <a:solidFill>
                  <a:srgbClr val="D7DDD9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5600" y="606425"/>
              <a:ext cx="4191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BACKEND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543050"/>
              <a:ext cx="4318000" cy="564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3"/>
                </a:lnSpc>
              </a:pPr>
              <a:r>
                <a:rPr lang="en-US" sz="2925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FastAPI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2736850"/>
              <a:ext cx="4318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Structured endpoints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Explicit API models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1150" y="2381250"/>
            <a:ext cx="3714750" cy="4762500"/>
            <a:chOff x="0" y="0"/>
            <a:chExt cx="4953000" cy="6350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953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35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DCEEE5"/>
              </a:solidFill>
              <a:ln w="19050" cap="sq">
                <a:solidFill>
                  <a:srgbClr val="D7DDD9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606425"/>
              <a:ext cx="4191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FRONTEND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543050"/>
              <a:ext cx="4318000" cy="564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3"/>
                </a:lnSpc>
              </a:pPr>
              <a:r>
                <a:rPr lang="en-US" sz="2925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React + 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600" y="2736850"/>
              <a:ext cx="4318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Vite build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Integrated workflows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44525" y="2381250"/>
            <a:ext cx="3714750" cy="4762500"/>
            <a:chOff x="0" y="0"/>
            <a:chExt cx="4953000" cy="6350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953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35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4F6F3"/>
              </a:solidFill>
              <a:ln w="19050" cap="sq">
                <a:solidFill>
                  <a:srgbClr val="D7DDD9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55600" y="606425"/>
              <a:ext cx="4191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20">
                  <a:solidFill>
                    <a:srgbClr val="C43D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SECURITY INTELLIGENCE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600" y="1543050"/>
              <a:ext cx="4318000" cy="564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3"/>
                </a:lnSpc>
              </a:pPr>
              <a:r>
                <a:rPr lang="en-US" sz="2925" b="1">
                  <a:solidFill>
                    <a:srgbClr val="1720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OSV + Evidence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00" y="2736850"/>
              <a:ext cx="4318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Parsing · reachability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context · proof modules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476500" y="8153400"/>
            <a:ext cx="13335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17201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MODULAR  ·  STRUCTURED EVIDENCE  ·  EXPLICIT VERDICTS  ·  SECURITY-AWARE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Built Functionality, Evidence and Remaining Checks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381250"/>
            <a:ext cx="4953000" cy="5429250"/>
            <a:chOff x="0" y="0"/>
            <a:chExt cx="6604000" cy="7239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604000" cy="7239000"/>
              <a:chOff x="0" y="0"/>
              <a:chExt cx="6604000" cy="7239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6040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23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DCEE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6040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31800" y="596900"/>
              <a:ext cx="5588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IMPLEMENTED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1800" y="1638300"/>
              <a:ext cx="5588000" cy="258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Ingestion + inventory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OSV + reachability + context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Evidence fusion + verdicts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Remediation + proof workflow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Probe planning + React/API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91275" y="2381250"/>
            <a:ext cx="4953000" cy="5429250"/>
            <a:chOff x="0" y="0"/>
            <a:chExt cx="6604000" cy="723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7239000"/>
              <a:chOff x="0" y="0"/>
              <a:chExt cx="6604000" cy="7239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23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8EC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31800" y="596900"/>
              <a:ext cx="5588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B779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END-TO-END VALIDATION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00" y="1638300"/>
              <a:ext cx="5588000" cy="205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Representative projects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Applied-fix verification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Probe runtime evidence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Integration + regression tests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68150" y="2381250"/>
            <a:ext cx="4953000" cy="5429250"/>
            <a:chOff x="0" y="0"/>
            <a:chExt cx="6604000" cy="7239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7239000"/>
              <a:chOff x="0" y="0"/>
              <a:chExt cx="6604000" cy="7239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23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8DF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31800" y="596900"/>
              <a:ext cx="5588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C43D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KNOWN REVIEW ISSUES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800" y="1638300"/>
              <a:ext cx="5588000" cy="98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Python annotation NameError</a:t>
              </a:r>
            </a:p>
            <a:p>
              <a:pPr algn="l">
                <a:lnSpc>
                  <a:spcPts val="3187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Frontend test permission error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286250" y="8582025"/>
            <a:ext cx="9715500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22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Honest status reporting is part of the evidence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Watch ACSA Analyse a Repository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047875"/>
            <a:ext cx="11620500" cy="7239000"/>
            <a:chOff x="0" y="0"/>
            <a:chExt cx="15494000" cy="965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494000" cy="9652000"/>
            </a:xfrm>
            <a:custGeom>
              <a:avLst/>
              <a:gdLst/>
              <a:ahLst/>
              <a:cxnLst/>
              <a:rect l="l" t="t" r="r" b="b"/>
              <a:pathLst>
                <a:path w="15494000" h="9652000">
                  <a:moveTo>
                    <a:pt x="0" y="0"/>
                  </a:moveTo>
                  <a:lnTo>
                    <a:pt x="15494000" y="0"/>
                  </a:lnTo>
                  <a:lnTo>
                    <a:pt x="1549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F4F6F3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494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047875"/>
            <a:ext cx="11620500" cy="685800"/>
            <a:chOff x="0" y="0"/>
            <a:chExt cx="154940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94000" cy="914400"/>
            </a:xfrm>
            <a:custGeom>
              <a:avLst/>
              <a:gdLst/>
              <a:ahLst/>
              <a:cxnLst/>
              <a:rect l="l" t="t" r="r" b="b"/>
              <a:pathLst>
                <a:path w="15494000" h="914400">
                  <a:moveTo>
                    <a:pt x="0" y="0"/>
                  </a:moveTo>
                  <a:lnTo>
                    <a:pt x="15494000" y="0"/>
                  </a:lnTo>
                  <a:lnTo>
                    <a:pt x="1549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312C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494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733675"/>
            <a:ext cx="2381250" cy="6553200"/>
            <a:chOff x="0" y="0"/>
            <a:chExt cx="3175000" cy="873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75000" cy="8737600"/>
            </a:xfrm>
            <a:custGeom>
              <a:avLst/>
              <a:gdLst/>
              <a:ahLst/>
              <a:cxnLst/>
              <a:rect l="l" t="t" r="r" b="b"/>
              <a:pathLst>
                <a:path w="3175000" h="8737600">
                  <a:moveTo>
                    <a:pt x="0" y="0"/>
                  </a:moveTo>
                  <a:lnTo>
                    <a:pt x="3175000" y="0"/>
                  </a:lnTo>
                  <a:lnTo>
                    <a:pt x="3175000" y="8737600"/>
                  </a:lnTo>
                  <a:lnTo>
                    <a:pt x="0" y="8737600"/>
                  </a:lnTo>
                  <a:close/>
                </a:path>
              </a:pathLst>
            </a:custGeom>
            <a:solidFill>
              <a:srgbClr val="E9EEE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75000" cy="877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5875" y="2209800"/>
            <a:ext cx="6667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ACSA  /  repository scan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8250" y="3181350"/>
            <a:ext cx="1714500" cy="298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Overview</a:t>
            </a:r>
          </a:p>
          <a:p>
            <a:pPr algn="l">
              <a:lnSpc>
                <a:spcPts val="2673"/>
              </a:lnSpc>
            </a:pPr>
            <a:endParaRPr lang="en-US" sz="1725">
              <a:solidFill>
                <a:srgbClr val="5D69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Findings  04</a:t>
            </a:r>
          </a:p>
          <a:p>
            <a:pPr algn="l">
              <a:lnSpc>
                <a:spcPts val="2673"/>
              </a:lnSpc>
            </a:pPr>
            <a:endParaRPr lang="en-US" sz="1725">
              <a:solidFill>
                <a:srgbClr val="5D69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Evidence</a:t>
            </a:r>
          </a:p>
          <a:p>
            <a:pPr algn="l">
              <a:lnSpc>
                <a:spcPts val="2673"/>
              </a:lnSpc>
            </a:pPr>
            <a:endParaRPr lang="en-US" sz="1725">
              <a:solidFill>
                <a:srgbClr val="5D69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Remediation</a:t>
            </a:r>
          </a:p>
          <a:p>
            <a:pPr algn="l">
              <a:lnSpc>
                <a:spcPts val="2673"/>
              </a:lnSpc>
            </a:pPr>
            <a:endParaRPr lang="en-US" sz="1725">
              <a:solidFill>
                <a:srgbClr val="5D69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14750" y="3209925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C43D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FINDING  CVE / OSV record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6000" y="3152775"/>
            <a:ext cx="20002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>
                <a:solidFill>
                  <a:srgbClr val="C43D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EXPOSED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14750" y="3867150"/>
            <a:ext cx="74295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01C"/>
                </a:solidFill>
                <a:latin typeface="IBM Plex Sans"/>
                <a:ea typeface="IBM Plex Sans"/>
                <a:cs typeface="IBM Plex Sans"/>
                <a:sym typeface="IBM Plex Sans"/>
              </a:rPr>
              <a:t>Affected component is present. Import and call evidence connect an application entry point to the vulnerable API.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14750" y="55911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EVIDENCE PATH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714750" y="6286500"/>
            <a:ext cx="2000250" cy="857250"/>
            <a:chOff x="0" y="0"/>
            <a:chExt cx="2667000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058333"/>
                  </a:lnTo>
                  <a:cubicBezTo>
                    <a:pt x="2667000" y="1105093"/>
                    <a:pt x="2629093" y="1143000"/>
                    <a:pt x="2582333" y="1143000"/>
                  </a:cubicBezTo>
                  <a:lnTo>
                    <a:pt x="84667" y="1143000"/>
                  </a:lnTo>
                  <a:cubicBezTo>
                    <a:pt x="37907" y="1143000"/>
                    <a:pt x="0" y="1105093"/>
                    <a:pt x="0" y="105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DD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2667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ENTRY POINT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5715000" y="6715125"/>
            <a:ext cx="762000" cy="0"/>
          </a:xfrm>
          <a:prstGeom prst="line">
            <a:avLst/>
          </a:prstGeom>
          <a:ln w="38100" cap="rnd">
            <a:solidFill>
              <a:srgbClr val="C43D3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6477000" y="6286500"/>
            <a:ext cx="2000250" cy="857250"/>
            <a:chOff x="0" y="0"/>
            <a:chExt cx="2667000" cy="114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058333"/>
                  </a:lnTo>
                  <a:cubicBezTo>
                    <a:pt x="2667000" y="1105093"/>
                    <a:pt x="2629093" y="1143000"/>
                    <a:pt x="2582333" y="1143000"/>
                  </a:cubicBezTo>
                  <a:lnTo>
                    <a:pt x="84667" y="1143000"/>
                  </a:lnTo>
                  <a:cubicBezTo>
                    <a:pt x="37907" y="1143000"/>
                    <a:pt x="0" y="1105093"/>
                    <a:pt x="0" y="105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8DFDF"/>
            </a:solidFill>
            <a:ln w="19050" cap="sq">
              <a:solidFill>
                <a:srgbClr val="F8DFD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2667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7201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IMPORT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8477250" y="6715125"/>
            <a:ext cx="762000" cy="0"/>
          </a:xfrm>
          <a:prstGeom prst="line">
            <a:avLst/>
          </a:prstGeom>
          <a:ln w="38100" cap="rnd">
            <a:solidFill>
              <a:srgbClr val="C43D3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9239250" y="6286500"/>
            <a:ext cx="2381250" cy="857250"/>
            <a:chOff x="0" y="0"/>
            <a:chExt cx="3175000" cy="1143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75000" cy="1143000"/>
            </a:xfrm>
            <a:custGeom>
              <a:avLst/>
              <a:gdLst/>
              <a:ahLst/>
              <a:cxnLst/>
              <a:rect l="l" t="t" r="r" b="b"/>
              <a:pathLst>
                <a:path w="3175000" h="1143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071880"/>
                  </a:lnTo>
                  <a:cubicBezTo>
                    <a:pt x="3175000" y="1111159"/>
                    <a:pt x="3143159" y="1143000"/>
                    <a:pt x="3103880" y="1143000"/>
                  </a:cubicBezTo>
                  <a:lnTo>
                    <a:pt x="71120" y="1143000"/>
                  </a:lnTo>
                  <a:cubicBezTo>
                    <a:pt x="31842" y="1143000"/>
                    <a:pt x="0" y="1111159"/>
                    <a:pt x="0" y="1071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C43D3D"/>
            </a:solidFill>
            <a:ln w="19050" cap="sq">
              <a:solidFill>
                <a:srgbClr val="C43D3D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175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VULNERABLE API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192125" y="3152775"/>
            <a:ext cx="4000500" cy="149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actual outputs. Explain missing verification or failures honestly.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92125" y="5238750"/>
            <a:ext cx="4000500" cy="207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1  Select prepared repo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2  Run scan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3  Inspect finding + verdict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4  Review remediation</a:t>
            </a:r>
          </a:p>
          <a:p>
            <a:pPr algn="l">
              <a:lnSpc>
                <a:spcPts val="3341"/>
              </a:lnSpc>
            </a:pPr>
            <a:r>
              <a:rPr lang="en-US" sz="2025">
                <a:solidFill>
                  <a:srgbClr val="5D6963"/>
                </a:solidFill>
                <a:latin typeface="IBM Plex Sans"/>
                <a:ea typeface="IBM Plex Sans"/>
                <a:cs typeface="IBM Plex Sans"/>
                <a:sym typeface="IBM Plex Sans"/>
              </a:rPr>
              <a:t>5  Verify proof / plan probe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Better Evidence for Safer Software Decisions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5867400" y="5238750"/>
            <a:ext cx="47625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914400" y="2381250"/>
            <a:ext cx="4953000" cy="5334000"/>
            <a:chOff x="0" y="0"/>
            <a:chExt cx="6604000" cy="7112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604000" cy="7112000"/>
              <a:chOff x="0" y="0"/>
              <a:chExt cx="6604000" cy="7112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604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11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DCEE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604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431800" y="733425"/>
              <a:ext cx="5461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76B4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IMPACT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1800" y="1838325"/>
              <a:ext cx="5588000" cy="200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Explainable, auditable findings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Inventory inconsistencies surfaced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Targeted remediation decisions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Uncertainty preserved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11344275" y="5238750"/>
            <a:ext cx="476250" cy="0"/>
          </a:xfrm>
          <a:prstGeom prst="line">
            <a:avLst/>
          </a:prstGeom>
          <a:ln w="38100" cap="rnd">
            <a:solidFill>
              <a:srgbClr val="D7DDD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6391275" y="2381250"/>
            <a:ext cx="4953000" cy="5334000"/>
            <a:chOff x="0" y="0"/>
            <a:chExt cx="6604000" cy="711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604000" cy="7112000"/>
              <a:chOff x="0" y="0"/>
              <a:chExt cx="6604000" cy="7112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604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11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8DF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6604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733425"/>
              <a:ext cx="5461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C43D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LIMITATIONS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1828800"/>
              <a:ext cx="5588000" cy="1920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1800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Static paths are incomplete</a:t>
              </a:r>
            </a:p>
            <a:p>
              <a:pPr algn="l">
                <a:lnSpc>
                  <a:spcPts val="2970"/>
                </a:lnSpc>
              </a:pPr>
              <a:r>
                <a:rPr lang="en-US" sz="1800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Reachability ≠ exploitability</a:t>
              </a:r>
            </a:p>
            <a:p>
              <a:pPr algn="l">
                <a:lnSpc>
                  <a:spcPts val="2970"/>
                </a:lnSpc>
              </a:pPr>
              <a:r>
                <a:rPr lang="en-US" sz="1800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Generated fixes are not guaranteed safe</a:t>
              </a:r>
            </a:p>
            <a:p>
              <a:pPr algn="l">
                <a:lnSpc>
                  <a:spcPts val="2970"/>
                </a:lnSpc>
              </a:pPr>
              <a:r>
                <a:rPr lang="en-US" sz="1800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Simulation ≠ production proof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68150" y="2381250"/>
            <a:ext cx="4953000" cy="5334000"/>
            <a:chOff x="0" y="0"/>
            <a:chExt cx="6604000" cy="7112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604000" cy="7112000"/>
              <a:chOff x="0" y="0"/>
              <a:chExt cx="6604000" cy="7112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604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11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8EC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604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31800" y="733425"/>
              <a:ext cx="5461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B779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1800" y="1838325"/>
              <a:ext cx="5588000" cy="200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Fix tests → validate workflow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Materialize + verify fixes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Improve reachability + uncertainty</a:t>
              </a:r>
            </a:p>
            <a:p>
              <a:pPr algn="l">
                <a:lnSpc>
                  <a:spcPts val="3093"/>
                </a:lnSpc>
              </a:pPr>
              <a:r>
                <a:rPr lang="en-US" sz="1875">
                  <a:solidFill>
                    <a:srgbClr val="5D69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Strengthen proof + integrations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762500"/>
            <a:ext cx="16459200" cy="38100"/>
            <a:chOff x="0" y="0"/>
            <a:chExt cx="21945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76B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400" y="933450"/>
            <a:ext cx="12858750" cy="157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Vulnerability Alerts to</a:t>
            </a:r>
          </a:p>
          <a:p>
            <a:pPr algn="l">
              <a:lnSpc>
                <a:spcPts val="6142"/>
              </a:lnSpc>
            </a:pPr>
            <a:r>
              <a:rPr lang="en-US" sz="58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Evidence-Driven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3724275"/>
            <a:ext cx="4953000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 Understand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91250" y="3724275"/>
            <a:ext cx="4762500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 Explain exposure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5250" y="3724275"/>
            <a:ext cx="5715000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 Verify safer change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9750" y="5410200"/>
            <a:ext cx="14668500" cy="144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000" b="1">
                <a:solidFill>
                  <a:srgbClr val="1720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ACSA moves software security from finding vulnerable packages toward understanding exposure, evaluating safer changes and collecting evidence that risk has closed.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0250" y="7791450"/>
            <a:ext cx="142875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176B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Don’t just detect. Don’t just upgrade. Prove that the risk is closed.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250" y="9305925"/>
            <a:ext cx="285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120">
                <a:solidFill>
                  <a:srgbClr val="176B4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696</Words>
  <Application>Microsoft Office PowerPoint</Application>
  <PresentationFormat>Custom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IBM Plex Mono</vt:lpstr>
      <vt:lpstr>Calibri</vt:lpstr>
      <vt:lpstr>IBM Plex Mono Bold</vt:lpstr>
      <vt:lpstr>IBM Plex Sans Bold</vt:lpstr>
      <vt:lpstr>IBM Plex Sans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ACSA Security Analysis</dc:title>
  <dc:creator>Pooja M</dc:creator>
  <cp:lastModifiedBy>Pooja M</cp:lastModifiedBy>
  <cp:revision>3</cp:revision>
  <dcterms:created xsi:type="dcterms:W3CDTF">2006-08-16T00:00:00Z</dcterms:created>
  <dcterms:modified xsi:type="dcterms:W3CDTF">2026-10-09T04:49:29Z</dcterms:modified>
  <dc:identifier>DAHXfNGO5Cc</dc:identifier>
</cp:coreProperties>
</file>